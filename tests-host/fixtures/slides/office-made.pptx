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69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Q1 Sales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Midwest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Q2 Sales</c:v>
                </c:pt>
              </c:strCache>
            </c:strRef>
          </c:tx>
          <c:spPr>
            <a:solidFill>
              <a:srgbClr val="c0504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Midwest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</c:numCache>
            </c:numRef>
          </c:val>
        </c:ser>
        <c:gapWidth val="150"/>
        <c:overlap val="0"/>
        <c:axId val="62029166"/>
        <c:axId val="67153898"/>
      </c:barChart>
      <c:catAx>
        <c:axId val="62029166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67153898"/>
        <c:crosses val="autoZero"/>
        <c:auto val="1"/>
        <c:lblAlgn val="ctr"/>
        <c:lblOffset val="100"/>
        <c:noMultiLvlLbl val="0"/>
      </c:catAx>
      <c:valAx>
        <c:axId val="67153898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62029166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2160" spc="-1" strike="noStrike">
                <a:solidFill>
                  <a:srgbClr val="000000"/>
                </a:solidFill>
                <a:latin typeface="Calibri"/>
              </a:defRPr>
            </a:pPr>
            <a:r>
              <a:rPr b="1" sz="2160" spc="-1" strike="noStrike">
                <a:solidFill>
                  <a:srgbClr val="000000"/>
                </a:solidFill>
                <a:latin typeface="Calibri"/>
              </a:rPr>
              <a:t>Share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4f81bd"/>
              </a:solidFill>
              <a:ln w="0">
                <a:noFill/>
              </a:ln>
            </c:spPr>
          </c:dPt>
          <c:dPt>
            <c:idx val="1"/>
            <c:spPr>
              <a:solidFill>
                <a:srgbClr val="c0504d"/>
              </a:solidFill>
              <a:ln w="0">
                <a:noFill/>
              </a:ln>
            </c:spPr>
          </c:dPt>
          <c:dPt>
            <c:idx val="2"/>
            <c:spPr>
              <a:solidFill>
                <a:srgbClr val="9bbb59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Q1 Sales</c:v>
                </c:pt>
              </c:strCache>
            </c:strRef>
          </c:tx>
          <c:spPr>
            <a:solidFill>
              <a:srgbClr val="4a7ebb"/>
            </a:solidFill>
            <a:ln w="28440">
              <a:solidFill>
                <a:srgbClr val="4a7ebb"/>
              </a:solidFill>
              <a:round/>
            </a:ln>
          </c:spPr>
          <c:marker>
            <c:symbol val="none"/>
          </c:marker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Midwest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Q2 Sales</c:v>
                </c:pt>
              </c:strCache>
            </c:strRef>
          </c:tx>
          <c:spPr>
            <a:solidFill>
              <a:srgbClr val="be4b48"/>
            </a:solidFill>
            <a:ln w="28440">
              <a:solidFill>
                <a:srgbClr val="be4b48"/>
              </a:solidFill>
              <a:round/>
            </a:ln>
          </c:spPr>
          <c:marker>
            <c:symbol val="none"/>
          </c:marker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Midwest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0"/>
        <c:axId val="82109411"/>
        <c:axId val="91196367"/>
      </c:lineChart>
      <c:catAx>
        <c:axId val="82109411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91196367"/>
        <c:crosses val="autoZero"/>
        <c:auto val="1"/>
        <c:lblAlgn val="ctr"/>
        <c:lblOffset val="100"/>
        <c:noMultiLvlLbl val="0"/>
      </c:catAx>
      <c:valAx>
        <c:axId val="91196367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82109411"/>
        <c:crosses val="autoZero"/>
        <c:crossBetween val="between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8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D3AFAA1-0CAF-465F-9B03-08ACE5503C6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Welcome everyone.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Introduce the team.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7625C76-6C5B-42ED-BDD4-98C4B5C252F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6E92AD-1E1D-46F2-B314-600BD18AD2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FD0070-0913-4955-8756-99D08C3DF3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ADC502-F2EA-42AA-95B7-B5E83C2DF1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7049008-166F-4C8A-8222-8521AC16FB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F6FF1C1-72B9-4B20-A2AF-ABBB2E0A44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61CA1B0-D6A9-4BC4-975F-8920D8B0FA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A4AE059-867A-4910-AF0D-758659533C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7D789A9-666D-4E3E-BFA1-8D29C21637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3787AB18-F177-4092-B74F-20EAA67870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CE58BCA-7C02-4AB2-A5B6-929575F7F65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69F42CA-853A-420C-9197-4F6F28D272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7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8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9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0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1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50E2FD-CEC5-4FF4-85BD-A5796420F8D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46EDCC-CDD8-4770-ACF6-D08B48FD0FA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7498CF-AFD0-4935-A8C7-5F55854B979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9F6FA3-ADF3-4CE5-978F-D1331A3228D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2"/>
    <p:sldLayoutId id="2147483657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41A9F4-2C44-467C-9EF7-DFDFE64C22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630059-ADE9-4ABC-89A2-B224310FF7D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ECB59F-09FF-4849-BDED-49CEA4DA41E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20838F-B1C1-4846-98A4-BB2EE707649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7A21FB-8A5E-40A9-89FF-745426A2198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1D9FE7-D8B9-4122-930E-44B4169E09B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EC5C55-2CDA-4527-A148-219BE336971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Quarterly review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Lagos office, September 2026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What we shipped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Solar mini-grids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Kano markets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200" spc="-1" strike="noStrike">
                <a:solidFill>
                  <a:schemeClr val="dk1"/>
                </a:solidFill>
                <a:latin typeface="Calibri"/>
              </a:rPr>
              <a:t>Bold </a:t>
            </a:r>
            <a:r>
              <a:rPr b="0" i="1" lang="en-US" sz="3200" spc="-1" strike="noStrike">
                <a:solidFill>
                  <a:schemeClr val="dk1"/>
                </a:solidFill>
                <a:latin typeface="Calibri"/>
              </a:rPr>
              <a:t>and italic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Mobile money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914400" y="914400"/>
            <a:ext cx="2742840" cy="1371240"/>
          </a:xfrm>
          <a:prstGeom prst="rect">
            <a:avLst/>
          </a:prstGeom>
          <a:solidFill>
            <a:srgbClr val="c0622b"/>
          </a:solidFill>
          <a:ln w="9360">
            <a:solidFill>
              <a:srgbClr val="4a7eb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Revenue up 12%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Oval 2"/>
          <p:cNvSpPr/>
          <p:nvPr/>
        </p:nvSpPr>
        <p:spPr>
          <a:xfrm>
            <a:off x="4572000" y="914400"/>
            <a:ext cx="1828440" cy="1828440"/>
          </a:xfrm>
          <a:prstGeom prst="ellipse">
            <a:avLst/>
          </a:prstGeom>
          <a:solidFill>
            <a:srgbClr val="2f6feb"/>
          </a:solidFill>
          <a:ln w="9360">
            <a:solidFill>
              <a:srgbClr val="4a7eb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1754640" y="2743200"/>
            <a:ext cx="1976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 plain text box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Picture 4" descr="pic.png"/>
          <p:cNvPicPr/>
          <p:nvPr/>
        </p:nvPicPr>
        <p:blipFill>
          <a:blip r:embed="rId1"/>
          <a:stretch/>
        </p:blipFill>
        <p:spPr>
          <a:xfrm>
            <a:off x="5486400" y="3657600"/>
            <a:ext cx="1828440" cy="914040"/>
          </a:xfrm>
          <a:prstGeom prst="rect">
            <a:avLst/>
          </a:prstGeom>
          <a:ln w="0">
            <a:noFill/>
          </a:ln>
        </p:spPr>
      </p:pic>
      <p:grpSp>
        <p:nvGrpSpPr>
          <p:cNvPr id="87" name="Group 5"/>
          <p:cNvGrpSpPr/>
          <p:nvPr/>
        </p:nvGrpSpPr>
        <p:grpSpPr>
          <a:xfrm>
            <a:off x="914400" y="4572000"/>
            <a:ext cx="2285640" cy="914040"/>
            <a:chOff x="914400" y="4572000"/>
            <a:chExt cx="2285640" cy="914040"/>
          </a:xfrm>
        </p:grpSpPr>
        <p:sp>
          <p:nvSpPr>
            <p:cNvPr id="88" name="Rectangle 6"/>
            <p:cNvSpPr/>
            <p:nvPr/>
          </p:nvSpPr>
          <p:spPr>
            <a:xfrm>
              <a:off x="914400" y="4572000"/>
              <a:ext cx="914040" cy="914040"/>
            </a:xfrm>
            <a:prstGeom prst="rect">
              <a:avLst/>
            </a:prstGeom>
            <a:solidFill>
              <a:srgbClr val="0e5a43"/>
            </a:solidFill>
            <a:ln w="9360">
              <a:solidFill>
                <a:srgbClr val="4a7ebb"/>
              </a:solidFill>
              <a:round/>
            </a:ln>
            <a:effectLst>
              <a:outerShdw dist="23040" dir="5400000" blurRad="399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89" name="Rectangle 7"/>
            <p:cNvSpPr/>
            <p:nvPr/>
          </p:nvSpPr>
          <p:spPr>
            <a:xfrm>
              <a:off x="2286000" y="4572000"/>
              <a:ext cx="914040" cy="914040"/>
            </a:xfrm>
            <a:prstGeom prst="rect">
              <a:avLst/>
            </a:prstGeom>
            <a:solidFill>
              <a:srgbClr val="f5c542"/>
            </a:solidFill>
            <a:ln w="9360">
              <a:solidFill>
                <a:srgbClr val="4a7ebb"/>
              </a:solidFill>
              <a:round/>
            </a:ln>
            <a:effectLst>
              <a:outerShdw dist="23040" dir="5400000" blurRad="399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Tables and charts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91" name="Table 2"/>
          <p:cNvGraphicFramePr/>
          <p:nvPr/>
        </p:nvGraphicFramePr>
        <p:xfrm>
          <a:off x="457200" y="1371600"/>
          <a:ext cx="3656520" cy="1096920"/>
        </p:xfrm>
        <a:graphic>
          <a:graphicData uri="http://schemas.openxmlformats.org/drawingml/2006/table">
            <a:tbl>
              <a:tblPr/>
              <a:tblGrid>
                <a:gridCol w="1218960"/>
                <a:gridCol w="1218960"/>
                <a:gridCol w="1218960"/>
              </a:tblGrid>
              <a:tr h="365760"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Q1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Q2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North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South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" name="Chart 3"/>
          <p:cNvGraphicFramePr/>
          <p:nvPr/>
        </p:nvGraphicFramePr>
        <p:xfrm>
          <a:off x="4572000" y="1371600"/>
          <a:ext cx="4114440" cy="2285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93" name="Chart 4"/>
          <p:cNvGraphicFramePr/>
          <p:nvPr/>
        </p:nvGraphicFramePr>
        <p:xfrm>
          <a:off x="457200" y="2743200"/>
          <a:ext cx="2742840" cy="2285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4" name="Chart 5"/>
          <p:cNvGraphicFramePr/>
          <p:nvPr/>
        </p:nvGraphicFramePr>
        <p:xfrm>
          <a:off x="3200400" y="3840480"/>
          <a:ext cx="2742840" cy="2285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95" name="Connector 6"/>
          <p:cNvCxnSpPr/>
          <p:nvPr/>
        </p:nvCxnSpPr>
        <p:spPr>
          <a:xfrm>
            <a:off x="5943600" y="4572000"/>
            <a:ext cx="2286360" cy="914760"/>
          </a:xfrm>
          <a:prstGeom prst="straightConnector1">
            <a:avLst/>
          </a:prstGeom>
          <a:ln w="25560">
            <a:solidFill>
              <a:schemeClr val="accent1"/>
            </a:solidFill>
            <a:round/>
            <a:tailEnd len="med" type="triangle" w="med"/>
          </a:ln>
        </p:spPr>
      </p:cxnSp>
      <p:sp>
        <p:nvSpPr>
          <p:cNvPr id="96" name="5-Point Star 7"/>
          <p:cNvSpPr/>
          <p:nvPr/>
        </p:nvSpPr>
        <p:spPr>
          <a:xfrm rot="2700000">
            <a:off x="7315200" y="3657240"/>
            <a:ext cx="1371240" cy="137124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8900000"/>
          </a:gradFill>
          <a:ln w="9360">
            <a:solidFill>
              <a:srgbClr val="4a7eb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Rectangle 8"/>
          <p:cNvSpPr/>
          <p:nvPr/>
        </p:nvSpPr>
        <p:spPr>
          <a:xfrm>
            <a:off x="6217920" y="5669280"/>
            <a:ext cx="2285640" cy="914040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0000ff"/>
              </a:gs>
            </a:gsLst>
            <a:lin ang="16200000"/>
          </a:gradFill>
          <a:ln w="9360">
            <a:solidFill>
              <a:srgbClr val="4a7eb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