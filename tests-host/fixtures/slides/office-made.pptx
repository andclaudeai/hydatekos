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  <p:sldMasterId id="2147483657" r:id="rId6"/>
    <p:sldMasterId id="2147483658" r:id="rId7"/>
    <p:sldMasterId id="2147483659" r:id="rId8"/>
    <p:sldMasterId id="2147483660" r:id="rId9"/>
    <p:sldMasterId id="2147483661" r:id="rId10"/>
    <p:sldMasterId id="2147483663" r:id="rId11"/>
    <p:sldMasterId id="2147483664" r:id="rId12"/>
  </p:sldMasterIdLst>
  <p:notesMasterIdLst>
    <p:notesMasterId r:id="rId13"/>
  </p:notesMasterIdLst>
  <p:sldIdLst>
    <p:sldId id="256" r:id="rId14"/>
    <p:sldId id="257" r:id="rId15"/>
    <p:sldId id="258" r:id="rId16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AFFEB43-7EAC-4217-8DFD-6D238693232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Welcome everyone.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Introduce the team.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15ECED2-E44A-442A-95FE-C62483E539C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D0A4D0-4358-4EDC-97D0-1B0828334F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F8E7356-23FC-431A-8B2B-8B3B6408EF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9DDEC16-B7F7-46BD-9C3C-008EFF6A36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4925D94-2F82-4545-BC38-4D55209AFA7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40678B5-9647-4225-A42B-5417A629F4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D5A7105-C50C-4847-8045-89D2D9142E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6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2090B9-A476-4B79-98B4-1E844A289FC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466E23-4399-4643-AB8C-78B48010364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anchorCtr="1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9B51F5-58E9-4ED7-AFA0-DDEE8F51A07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020FA9-7DCD-4CF7-9215-BB605CA475B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9779DE-2524-4C4C-B2DB-F9DE2B5790E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F2A7D9-9EBE-495C-AB8D-7C12B3CD99A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EFD9A1-BCB1-4A83-AF00-7EB01E8933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F8F234-3D81-4E03-9C32-AC9CE06CC01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937EAF-CED0-4E68-AFED-F0FC94DB73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20CB79E-8BD3-409E-8AA5-4CA2804D383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38F866-E515-4F2D-83D3-F880A801C74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Quarterly review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Lagos office, September 2026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What we shipped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Solar mini-grids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Kano markets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1" lang="en-US" sz="3200" spc="-1" strike="noStrike">
                <a:solidFill>
                  <a:schemeClr val="dk1"/>
                </a:solidFill>
                <a:latin typeface="Calibri"/>
              </a:rPr>
              <a:t>Bold </a:t>
            </a:r>
            <a:r>
              <a:rPr b="0" i="1" lang="en-US" sz="3200" spc="-1" strike="noStrike">
                <a:solidFill>
                  <a:schemeClr val="dk1"/>
                </a:solidFill>
                <a:latin typeface="Calibri"/>
              </a:rPr>
              <a:t>and italic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Mobile money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"/>
          <p:cNvSpPr/>
          <p:nvPr/>
        </p:nvSpPr>
        <p:spPr>
          <a:xfrm>
            <a:off x="914400" y="914400"/>
            <a:ext cx="2742840" cy="1371240"/>
          </a:xfrm>
          <a:prstGeom prst="rect">
            <a:avLst/>
          </a:prstGeom>
          <a:solidFill>
            <a:srgbClr val="c0622b"/>
          </a:solidFill>
          <a:ln w="9360">
            <a:solidFill>
              <a:srgbClr val="4a7eb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400" spc="-1" strike="noStrike">
                <a:solidFill>
                  <a:srgbClr val="ffffff"/>
                </a:solidFill>
                <a:latin typeface="Calibri"/>
              </a:rPr>
              <a:t>Revenue up 12%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Oval 2"/>
          <p:cNvSpPr/>
          <p:nvPr/>
        </p:nvSpPr>
        <p:spPr>
          <a:xfrm>
            <a:off x="4572000" y="914400"/>
            <a:ext cx="1828440" cy="1828440"/>
          </a:xfrm>
          <a:prstGeom prst="ellipse">
            <a:avLst/>
          </a:prstGeom>
          <a:solidFill>
            <a:srgbClr val="2f6feb"/>
          </a:solidFill>
          <a:ln w="9360">
            <a:solidFill>
              <a:srgbClr val="4a7ebb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1754640" y="2743200"/>
            <a:ext cx="197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A plain text box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" name="Picture 4" descr="pic.png"/>
          <p:cNvPicPr/>
          <p:nvPr/>
        </p:nvPicPr>
        <p:blipFill>
          <a:blip r:embed="rId1"/>
          <a:stretch/>
        </p:blipFill>
        <p:spPr>
          <a:xfrm>
            <a:off x="5486400" y="3657600"/>
            <a:ext cx="1828440" cy="914040"/>
          </a:xfrm>
          <a:prstGeom prst="rect">
            <a:avLst/>
          </a:prstGeom>
          <a:ln w="0">
            <a:noFill/>
          </a:ln>
        </p:spPr>
      </p:pic>
      <p:grpSp>
        <p:nvGrpSpPr>
          <p:cNvPr id="84" name="Group 5"/>
          <p:cNvGrpSpPr/>
          <p:nvPr/>
        </p:nvGrpSpPr>
        <p:grpSpPr>
          <a:xfrm>
            <a:off x="914400" y="4572000"/>
            <a:ext cx="2285640" cy="914040"/>
            <a:chOff x="914400" y="4572000"/>
            <a:chExt cx="2285640" cy="914040"/>
          </a:xfrm>
        </p:grpSpPr>
        <p:sp>
          <p:nvSpPr>
            <p:cNvPr id="85" name="Rectangle 6"/>
            <p:cNvSpPr/>
            <p:nvPr/>
          </p:nvSpPr>
          <p:spPr>
            <a:xfrm>
              <a:off x="914400" y="4572000"/>
              <a:ext cx="914040" cy="914040"/>
            </a:xfrm>
            <a:prstGeom prst="rect">
              <a:avLst/>
            </a:prstGeom>
            <a:solidFill>
              <a:srgbClr val="0e5a43"/>
            </a:solidFill>
            <a:ln w="9360">
              <a:solidFill>
                <a:srgbClr val="4a7ebb"/>
              </a:solidFill>
              <a:round/>
            </a:ln>
            <a:effectLst>
              <a:outerShdw dist="23040" dir="5400000" blurRad="399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86" name="Rectangle 7"/>
            <p:cNvSpPr/>
            <p:nvPr/>
          </p:nvSpPr>
          <p:spPr>
            <a:xfrm>
              <a:off x="2286000" y="4572000"/>
              <a:ext cx="914040" cy="914040"/>
            </a:xfrm>
            <a:prstGeom prst="rect">
              <a:avLst/>
            </a:prstGeom>
            <a:solidFill>
              <a:srgbClr val="f5c542"/>
            </a:solidFill>
            <a:ln w="9360">
              <a:solidFill>
                <a:srgbClr val="4a7ebb"/>
              </a:solidFill>
              <a:round/>
            </a:ln>
            <a:effectLst>
              <a:outerShdw dist="23040" dir="5400000" blurRad="39960" rotWithShape="0">
                <a:srgbClr val="000000">
                  <a:alpha val="35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