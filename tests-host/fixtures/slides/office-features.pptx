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lang="en-US" sz="1800" spc="-1" strike="noStrike">
                <a:solidFill>
                  <a:srgbClr val="ffffff"/>
                </a:solidFill>
                <a:latin typeface="Figtree"/>
              </a:defRPr>
            </a:pPr>
            <a:r>
              <a:rPr b="1" lang="en-US" sz="1800" spc="-1" strike="noStrike">
                <a:solidFill>
                  <a:srgbClr val="ffffff"/>
                </a:solidFill>
                <a:latin typeface="Figtree"/>
              </a:rPr>
              <a:t>Sales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4fc3b8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1.5</c:v>
                </c:pt>
                <c:pt idx="1">
                  <c:v>2.25</c:v>
                </c:pt>
                <c:pt idx="2">
                  <c:v>-0.5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7ca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5.5</c:v>
                </c:pt>
              </c:numCache>
            </c:numRef>
          </c:val>
        </c:ser>
        <c:gapWidth val="80"/>
        <c:overlap val="0"/>
        <c:axId val="78875566"/>
        <c:axId val="51523205"/>
      </c:barChart>
      <c:catAx>
        <c:axId val="78875566"/>
        <c:scaling>
          <c:orientation val="maxMin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42505c"/>
            </a:solidFill>
            <a:round/>
          </a:ln>
        </c:spPr>
        <c:txPr>
          <a:bodyPr/>
          <a:lstStyle/>
          <a:p>
            <a:pPr>
              <a:defRPr b="0" sz="1400" spc="-1" strike="noStrike">
                <a:solidFill>
                  <a:srgbClr val="c9d6e2"/>
                </a:solidFill>
                <a:latin typeface="Figtree"/>
              </a:defRPr>
            </a:pPr>
          </a:p>
        </c:txPr>
        <c:crossAx val="51523205"/>
        <c:crosses val="autoZero"/>
        <c:auto val="1"/>
        <c:lblAlgn val="ctr"/>
        <c:lblOffset val="100"/>
        <c:noMultiLvlLbl val="0"/>
      </c:catAx>
      <c:valAx>
        <c:axId val="51523205"/>
        <c:scaling>
          <c:orientation val="minMax"/>
        </c:scaling>
        <c:delete val="0"/>
        <c:axPos val="l"/>
        <c:majorGridlines>
          <c:spPr>
            <a:ln w="9360">
              <a:solidFill>
                <a:srgbClr val="42505c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400" spc="-1" strike="noStrike">
                <a:solidFill>
                  <a:srgbClr val="c9d6e2"/>
                </a:solidFill>
                <a:latin typeface="Figtree"/>
              </a:defRPr>
            </a:pPr>
          </a:p>
        </c:txPr>
        <c:crossAx val="7887556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400" spc="-1" strike="noStrike">
              <a:solidFill>
                <a:srgbClr val="c9d6e2"/>
              </a:solidFill>
              <a:latin typeface="Figtree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4fc3b8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fc3b8"/>
              </a:solidFill>
              <a:ln w="19080">
                <a:solidFill>
                  <a:srgbClr val="22303c"/>
                </a:solidFill>
                <a:round/>
              </a:ln>
            </c:spPr>
          </c:dPt>
          <c:dPt>
            <c:idx val="1"/>
            <c:spPr>
              <a:solidFill>
                <a:srgbClr val="4f7cac"/>
              </a:solidFill>
              <a:ln w="19080">
                <a:solidFill>
                  <a:srgbClr val="22303c"/>
                </a:solidFill>
                <a:round/>
              </a:ln>
            </c:spPr>
          </c:dPt>
          <c:dPt>
            <c:idx val="2"/>
            <c:spPr>
              <a:solidFill>
                <a:srgbClr val="5b9b6b"/>
              </a:solidFill>
              <a:ln w="19080">
                <a:solidFill>
                  <a:srgbClr val="22303c"/>
                </a:solidFill>
                <a:round/>
              </a:ln>
            </c:spPr>
          </c:dPt>
          <c:dPt>
            <c:idx val="3"/>
            <c:spPr>
              <a:solidFill>
                <a:srgbClr val="d9a441"/>
              </a:solidFill>
              <a:ln w="19080">
                <a:solidFill>
                  <a:srgbClr val="22303c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Solar</c:v>
                </c:pt>
                <c:pt idx="1">
                  <c:v>Fintech</c:v>
                </c:pt>
                <c:pt idx="2">
                  <c:v>Software</c:v>
                </c:pt>
                <c:pt idx="3">
                  <c:v>Other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000" spc="-1" strike="noStrike">
                <a:solidFill>
                  <a:schemeClr val="dk1"/>
                </a:solidFill>
                <a:latin typeface="Figtree"/>
              </a:rPr>
              <a:t>Click to move the slide</a:t>
            </a:r>
            <a:endParaRPr b="0" lang="en-US" sz="4000" spc="-1" strike="noStrike">
              <a:solidFill>
                <a:schemeClr val="dk1"/>
              </a:solidFill>
              <a:latin typeface="Figtree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773FD45-15BC-4AE0-8417-0CB675819E7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Stars and arrows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000" spc="-1" strike="noStrike">
              <a:solidFill>
                <a:schemeClr val="dk1"/>
              </a:solidFill>
              <a:latin typeface="Figtree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 1"/>
          <p:cNvSpPr/>
          <p:nvPr/>
        </p:nvSpPr>
        <p:spPr>
          <a:xfrm>
            <a:off x="0" y="6762600"/>
            <a:ext cx="12191760" cy="95040"/>
          </a:xfrm>
          <a:prstGeom prst="rect">
            <a:avLst/>
          </a:prstGeom>
          <a:solidFill>
            <a:srgbClr val="4fc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Decoration 2"/>
          <p:cNvSpPr/>
          <p:nvPr/>
        </p:nvSpPr>
        <p:spPr>
          <a:xfrm>
            <a:off x="11620440" y="0"/>
            <a:ext cx="571320" cy="6857640"/>
          </a:xfrm>
          <a:prstGeom prst="rect">
            <a:avLst/>
          </a:prstGeom>
          <a:solidFill>
            <a:srgbClr val="2a3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Figtree"/>
              </a:rPr>
              <a:t>Click to edit the title text format</a:t>
            </a:r>
            <a:endParaRPr b="0" lang="en-US" sz="4000" spc="-1" strike="noStrike">
              <a:solidFill>
                <a:schemeClr val="dk1"/>
              </a:solidFill>
              <a:latin typeface="Figtre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Figtree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Figtree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Figtree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Figtree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Figtree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Figtree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Figtree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Figtree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igtree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Figtree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igtree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Figtree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Figtree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Figtre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47600" y="1809720"/>
            <a:ext cx="10096200" cy="1809360"/>
          </a:xfrm>
          <a:prstGeom prst="rect">
            <a:avLst/>
          </a:prstGeom>
          <a:noFill/>
          <a:ln w="0">
            <a:noFill/>
          </a:ln>
        </p:spPr>
        <p:txBody>
          <a:bodyPr lIns="114480" rIns="114480" tIns="57240" bIns="572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chemeClr val="dk1"/>
                </a:solidFill>
                <a:latin typeface="Figtree"/>
              </a:rPr>
              <a:t>Every feature</a:t>
            </a:r>
            <a:endParaRPr b="0" lang="en-US" sz="5400" spc="-1" strike="noStrike">
              <a:solidFill>
                <a:schemeClr val="dk1"/>
              </a:solidFill>
              <a:latin typeface="Figtre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2303c"/>
            </a:gs>
            <a:gs pos="100000">
              <a:srgbClr val="445566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62120" y="343080"/>
            <a:ext cx="10667520" cy="1104480"/>
          </a:xfrm>
          <a:prstGeom prst="rect">
            <a:avLst/>
          </a:prstGeom>
          <a:noFill/>
          <a:ln w="0">
            <a:noFill/>
          </a:ln>
        </p:spPr>
        <p:txBody>
          <a:bodyPr lIns="114480" rIns="114480" tIns="57240" bIns="572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/>
                </a:solidFill>
                <a:latin typeface="Figtree"/>
              </a:rPr>
              <a:t>Tables and charts</a:t>
            </a:r>
            <a:endParaRPr b="0" lang="en-US" sz="4000" spc="-1" strike="noStrike">
              <a:solidFill>
                <a:schemeClr val="dk1"/>
              </a:solidFill>
              <a:latin typeface="Figtree"/>
            </a:endParaRPr>
          </a:p>
        </p:txBody>
      </p:sp>
      <p:graphicFrame>
        <p:nvGraphicFramePr>
          <p:cNvPr id="14" name="Table 3"/>
          <p:cNvGraphicFramePr/>
          <p:nvPr/>
        </p:nvGraphicFramePr>
        <p:xfrm>
          <a:off x="762120" y="1714680"/>
          <a:ext cx="4761720" cy="1456560"/>
        </p:xfrm>
        <a:graphic>
          <a:graphicData uri="http://schemas.openxmlformats.org/drawingml/2006/table">
            <a:tbl>
              <a:tblPr/>
              <a:tblGrid>
                <a:gridCol w="2381040"/>
                <a:gridCol w="2381040"/>
              </a:tblGrid>
              <a:tr h="485640">
                <a:tc>
                  <a:txBody>
                    <a:bodyPr lIns="114120" rIns="11412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000" spc="-1" strike="noStrike">
                          <a:solidFill>
                            <a:srgbClr val="1e1b2c"/>
                          </a:solidFill>
                          <a:latin typeface="Figtree"/>
                        </a:rPr>
                        <a:t>App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14120" marR="114120">
                    <a:lnL w="9360">
                      <a:solidFill>
                        <a:srgbClr val="4f5d69"/>
                      </a:solidFill>
                      <a:prstDash val="solid"/>
                    </a:lnL>
                    <a:lnR w="9360">
                      <a:solidFill>
                        <a:srgbClr val="4f5d69"/>
                      </a:solidFill>
                      <a:prstDash val="solid"/>
                    </a:lnR>
                    <a:lnT w="9360">
                      <a:solidFill>
                        <a:srgbClr val="4f5d69"/>
                      </a:solidFill>
                      <a:prstDash val="solid"/>
                    </a:lnT>
                    <a:lnB w="9360">
                      <a:solidFill>
                        <a:srgbClr val="4f5d69"/>
                      </a:solidFill>
                      <a:prstDash val="solid"/>
                    </a:lnB>
                    <a:solidFill>
                      <a:srgbClr val="4fc3b8"/>
                    </a:solidFill>
                  </a:tcPr>
                </a:tc>
                <a:tc>
                  <a:txBody>
                    <a:bodyPr lIns="114120" rIns="11412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000" spc="-1" strike="noStrike">
                          <a:solidFill>
                            <a:srgbClr val="1e1b2c"/>
                          </a:solidFill>
                          <a:latin typeface="Figtree"/>
                        </a:rPr>
                        <a:t>Users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14120" marR="114120">
                    <a:lnL w="9360">
                      <a:solidFill>
                        <a:srgbClr val="4f5d69"/>
                      </a:solidFill>
                      <a:prstDash val="solid"/>
                    </a:lnL>
                    <a:lnR w="9360">
                      <a:solidFill>
                        <a:srgbClr val="4f5d69"/>
                      </a:solidFill>
                      <a:prstDash val="solid"/>
                    </a:lnR>
                    <a:lnT w="9360">
                      <a:solidFill>
                        <a:srgbClr val="4f5d69"/>
                      </a:solidFill>
                      <a:prstDash val="solid"/>
                    </a:lnT>
                    <a:lnB w="9360">
                      <a:solidFill>
                        <a:srgbClr val="4f5d69"/>
                      </a:solidFill>
                      <a:prstDash val="solid"/>
                    </a:lnB>
                    <a:solidFill>
                      <a:srgbClr val="4fc3b8"/>
                    </a:solidFill>
                  </a:tcPr>
                </a:tc>
              </a:tr>
              <a:tr h="485640">
                <a:tc>
                  <a:txBody>
                    <a:bodyPr lIns="114120" rIns="11412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000" spc="-1" strike="noStrike">
                          <a:solidFill>
                            <a:srgbClr val="c9d6e2"/>
                          </a:solidFill>
                          <a:latin typeface="Figtree"/>
                        </a:rPr>
                        <a:t>Browser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14120" marR="114120">
                    <a:lnL w="9360">
                      <a:solidFill>
                        <a:srgbClr val="4f5d69"/>
                      </a:solidFill>
                      <a:prstDash val="solid"/>
                    </a:lnL>
                    <a:lnR w="9360">
                      <a:solidFill>
                        <a:srgbClr val="4f5d69"/>
                      </a:solidFill>
                      <a:prstDash val="solid"/>
                    </a:lnR>
                    <a:lnT w="9360">
                      <a:solidFill>
                        <a:srgbClr val="4f5d69"/>
                      </a:solidFill>
                      <a:prstDash val="solid"/>
                    </a:lnT>
                    <a:lnB w="9360">
                      <a:solidFill>
                        <a:srgbClr val="4f5d69"/>
                      </a:solidFill>
                      <a:prstDash val="solid"/>
                    </a:lnB>
                    <a:solidFill>
                      <a:srgbClr val="273541"/>
                    </a:solidFill>
                  </a:tcPr>
                </a:tc>
                <a:tc>
                  <a:txBody>
                    <a:bodyPr lIns="114120" rIns="11412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c9d6e2"/>
                          </a:solidFill>
                          <a:latin typeface="Figtree"/>
                        </a:rPr>
                        <a:t>41,200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14120" marR="114120">
                    <a:lnL w="9360">
                      <a:solidFill>
                        <a:srgbClr val="4f5d69"/>
                      </a:solidFill>
                      <a:prstDash val="solid"/>
                    </a:lnL>
                    <a:lnR w="9360">
                      <a:solidFill>
                        <a:srgbClr val="4f5d69"/>
                      </a:solidFill>
                      <a:prstDash val="solid"/>
                    </a:lnR>
                    <a:lnT w="9360">
                      <a:solidFill>
                        <a:srgbClr val="4f5d69"/>
                      </a:solidFill>
                      <a:prstDash val="solid"/>
                    </a:lnT>
                    <a:lnB w="9360">
                      <a:solidFill>
                        <a:srgbClr val="4f5d69"/>
                      </a:solidFill>
                      <a:prstDash val="solid"/>
                    </a:lnB>
                    <a:solidFill>
                      <a:srgbClr val="273541"/>
                    </a:solidFill>
                  </a:tcPr>
                </a:tc>
              </a:tr>
              <a:tr h="485640">
                <a:tc>
                  <a:txBody>
                    <a:bodyPr lIns="114120" rIns="11412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c9d6e2"/>
                          </a:solidFill>
                          <a:latin typeface="Figtree"/>
                        </a:rPr>
                        <a:t>Slides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14120" marR="114120">
                    <a:lnL w="9360">
                      <a:solidFill>
                        <a:srgbClr val="4f5d69"/>
                      </a:solidFill>
                      <a:prstDash val="solid"/>
                    </a:lnL>
                    <a:lnR w="9360">
                      <a:solidFill>
                        <a:srgbClr val="4f5d69"/>
                      </a:solidFill>
                      <a:prstDash val="solid"/>
                    </a:lnR>
                    <a:lnT w="9360">
                      <a:solidFill>
                        <a:srgbClr val="4f5d69"/>
                      </a:solidFill>
                      <a:prstDash val="solid"/>
                    </a:lnT>
                    <a:lnB w="9360">
                      <a:solidFill>
                        <a:srgbClr val="4f5d69"/>
                      </a:solidFill>
                      <a:prstDash val="solid"/>
                    </a:lnB>
                    <a:solidFill>
                      <a:srgbClr val="273541"/>
                    </a:solidFill>
                  </a:tcPr>
                </a:tc>
                <a:tc>
                  <a:txBody>
                    <a:bodyPr lIns="114120" rIns="114120" tIns="56880" bIns="568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c9d6e2"/>
                          </a:solidFill>
                          <a:latin typeface="Figtree"/>
                        </a:rPr>
                        <a:t>9,800</a:t>
                      </a:r>
                      <a:endParaRPr b="0" lang="en-US" sz="2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14120" marR="114120">
                    <a:lnL w="9360">
                      <a:solidFill>
                        <a:srgbClr val="4f5d69"/>
                      </a:solidFill>
                      <a:prstDash val="solid"/>
                    </a:lnL>
                    <a:lnR w="9360">
                      <a:solidFill>
                        <a:srgbClr val="4f5d69"/>
                      </a:solidFill>
                      <a:prstDash val="solid"/>
                    </a:lnR>
                    <a:lnT w="9360">
                      <a:solidFill>
                        <a:srgbClr val="4f5d69"/>
                      </a:solidFill>
                      <a:prstDash val="solid"/>
                    </a:lnT>
                    <a:lnB w="9360">
                      <a:solidFill>
                        <a:srgbClr val="4f5d69"/>
                      </a:solidFill>
                      <a:prstDash val="solid"/>
                    </a:lnB>
                    <a:solidFill>
                      <a:srgbClr val="2735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Chart 4"/>
          <p:cNvGraphicFramePr/>
          <p:nvPr/>
        </p:nvGraphicFramePr>
        <p:xfrm>
          <a:off x="6095880" y="1619280"/>
          <a:ext cx="5333760" cy="400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Chart 5"/>
          <p:cNvGraphicFramePr/>
          <p:nvPr/>
        </p:nvGraphicFramePr>
        <p:xfrm>
          <a:off x="762120" y="3809880"/>
          <a:ext cx="3809520" cy="266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PlaceHolder 2"/>
          <p:cNvSpPr>
            <a:spLocks noGrp="1"/>
          </p:cNvSpPr>
          <p:nvPr>
            <p:ph type="ftr" idx="4"/>
          </p:nvPr>
        </p:nvSpPr>
        <p:spPr>
          <a:xfrm>
            <a:off x="3657600" y="6343560"/>
            <a:ext cx="4876560" cy="3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909eaa"/>
                </a:solidFill>
                <a:latin typeface="Figtre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09eaa"/>
                </a:solidFill>
                <a:latin typeface="Figtree"/>
              </a:rPr>
              <a:t>Hydatek · Lagos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5"/>
          </p:nvPr>
        </p:nvSpPr>
        <p:spPr>
          <a:xfrm>
            <a:off x="10191600" y="6343560"/>
            <a:ext cx="1428480" cy="3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909eaa"/>
                </a:solidFill>
                <a:latin typeface="Figtre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31B1B7-39FD-4F59-9A18-34200FD259C8}" type="slidenum">
              <a:rPr b="0" lang="en-US" sz="1200" spc="-1" strike="noStrike">
                <a:solidFill>
                  <a:srgbClr val="909eaa"/>
                </a:solidFill>
                <a:latin typeface="Figtree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/>
        </p:nvSpPr>
        <p:spPr>
          <a:xfrm rot="1800000">
            <a:off x="952200" y="952200"/>
            <a:ext cx="1904760" cy="190476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2b5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57240" bIns="572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1e1b2c"/>
              </a:solidFill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 flipH="1">
            <a:off x="3808440" y="952560"/>
            <a:ext cx="2857320" cy="114264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2f6feb"/>
              </a:gs>
              <a:gs pos="100000">
                <a:srgbClr val="8e6cb5"/>
              </a:gs>
            </a:gsLst>
            <a:lin ang="5400000"/>
          </a:gradFill>
          <a:ln w="5724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57240" bIns="572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Figtree"/>
              </a:rPr>
              <a:t>Go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" name="Connector 4"/>
          <p:cNvCxnSpPr/>
          <p:nvPr/>
        </p:nvCxnSpPr>
        <p:spPr>
          <a:xfrm flipH="1" flipV="1">
            <a:off x="2857320" y="3809880"/>
            <a:ext cx="5715360" cy="952920"/>
          </a:xfrm>
          <a:prstGeom prst="straightConnector1">
            <a:avLst/>
          </a:prstGeom>
          <a:ln w="38160">
            <a:solidFill>
              <a:srgbClr val="ff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2" name="Shape 5"/>
          <p:cNvSpPr/>
          <p:nvPr/>
        </p:nvSpPr>
        <p:spPr>
          <a:xfrm>
            <a:off x="7620120" y="1905120"/>
            <a:ext cx="2381040" cy="1428480"/>
          </a:xfrm>
          <a:prstGeom prst="roundRect">
            <a:avLst>
              <a:gd name="adj" fmla="val 16667"/>
            </a:avLst>
          </a:prstGeom>
          <a:solidFill>
            <a:srgbClr val="4fc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rIns="114480" tIns="57240" bIns="57240" anchor="ctr">
            <a:noAutofit/>
          </a:bodyPr>
          <a:p>
            <a:endParaRPr b="0" lang="en-US" sz="2000" spc="-1" strike="noStrike">
              <a:solidFill>
                <a:srgbClr val="1e1b2c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ftr" idx="6"/>
          </p:nvPr>
        </p:nvSpPr>
        <p:spPr>
          <a:xfrm>
            <a:off x="3657600" y="6343560"/>
            <a:ext cx="4876560" cy="3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909eaa"/>
                </a:solidFill>
                <a:latin typeface="Figtre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09eaa"/>
                </a:solidFill>
                <a:latin typeface="Figtree"/>
              </a:rPr>
              <a:t>Hydatek · Lagos</a:t>
            </a:r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10191600" y="6343560"/>
            <a:ext cx="1428480" cy="3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909eaa"/>
                </a:solidFill>
                <a:latin typeface="Figtre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051CAC-CC4F-48F3-AA9C-5C60014C3A9D}" type="slidenum">
              <a:rPr b="0" lang="en-US" sz="1200" spc="-1" strike="noStrike">
                <a:solidFill>
                  <a:srgbClr val="909eaa"/>
                </a:solidFill>
                <a:latin typeface="Figtree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22303c"/>
      </a:lt1>
      <a:dk2>
        <a:srgbClr val="c9d6e2"/>
      </a:dk2>
      <a:lt2>
        <a:srgbClr val="3a3748"/>
      </a:lt2>
      <a:accent1>
        <a:srgbClr val="4fc3b8"/>
      </a:accent1>
      <a:accent2>
        <a:srgbClr val="4f7cac"/>
      </a:accent2>
      <a:accent3>
        <a:srgbClr val="5b9b6b"/>
      </a:accent3>
      <a:accent4>
        <a:srgbClr val="d9a441"/>
      </a:accent4>
      <a:accent5>
        <a:srgbClr val="8e6cb5"/>
      </a:accent5>
      <a:accent6>
        <a:srgbClr val="c2504f"/>
      </a:accent6>
      <a:hlink>
        <a:srgbClr val="4fc3b8"/>
      </a:hlink>
      <a:folHlink>
        <a:srgbClr val="4fc3b8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Features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3</vt:r8>
  </property>
</Properties>
</file>